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/>
    </p:spTree>
  </p:cSld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" name="Shape 10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102" name="Shape 102"/>
          <p:cNvSpPr/>
          <p:nvPr/>
        </p:nvSpPr>
        <p:spPr>
          <a:xfrm>
            <a:off x="0" y="0"/>
            <a:ext cx="12192000" cy="980000"/>
          </a:xfrm>
          <a:prstGeom prst="rect">
            <a:avLst/>
          </a:prstGeom>
          <a:solidFill>
            <a:srgbClr val="123B5D"/>
          </a:solidFill>
          <a:ln>
            <a:noFill/>
          </a:ln>
        </p:spPr>
      </p:sp>
      <p:sp>
        <p:nvSpPr>
          <p:cNvPr id="11" name="Text 11"/>
          <p:cNvSpPr/>
          <p:nvPr/>
        </p:nvSpPr>
        <p:spPr>
          <a:xfrm>
            <a:off x="420000" y="180000"/>
            <a:ext cx="11200000" cy="400000"/>
          </a:xfrm>
          <a:prstGeom prst="rect">
            <a:avLst/>
          </a:prstGeom>
          <a:noFill/>
        </p:spPr>
        <p:txBody>
          <a:bodyPr lIns="54864" rIns="54864" tIns="54864" bIns="54864" anchor="mid"/>
          <a:lstStyle/>
          <a:p>
            <a:pPr algn="left"/>
            <a:endParaRPr lang="zh-CN" sz="280000"/>
            <a:rPr lang="zh-CN" sz="280000"/>
            <a:r>
              <a:rPr lang="zh-CN" sz="280000" b="1">
                <a:solidFill>
                  <a:srgbClr val="FFFFFF"/>
                </a:solidFill>
                <a:latin typeface="Microsoft YaHei"/>
                <a:ea typeface="Microsoft YaHei"/>
              </a:rPr>
              <a:t>从 JDK 8 迁移到 JDK 21</a:t>
            </a:r>
          </a:p>
        </p:txBody>
      </p:sp>
      <p:sp>
        <p:nvSpPr>
          <p:cNvPr id="12" name="Text 12"/>
          <p:cNvSpPr/>
          <p:nvPr/>
        </p:nvSpPr>
        <p:spPr>
          <a:xfrm>
            <a:off x="430000" y="610000"/>
            <a:ext cx="11200000" cy="220000"/>
          </a:xfrm>
          <a:prstGeom prst="rect">
            <a:avLst/>
          </a:prstGeom>
          <a:noFill/>
        </p:spPr>
        <p:txBody>
          <a:bodyPr lIns="54864" rIns="54864" tIns="54864" bIns="54864" anchor="mid"/>
          <a:lstStyle/>
          <a:p>
            <a:pPr algn="left"/>
            <a:endParaRPr lang="zh-CN" sz="125000"/>
            <a:rPr lang="zh-CN" sz="125000"/>
            <a:r>
              <a:rPr lang="zh-CN" sz="125000" b="0">
                <a:solidFill>
                  <a:srgbClr val="D7E8F5"/>
                </a:solidFill>
                <a:latin typeface="Microsoft YaHei"/>
                <a:ea typeface="Microsoft YaHei"/>
              </a:rPr>
              <a:t>以 JDK 21 作为公司统一生产基线，保障未来 3–5 年的生态、安全与交付能力</a:t>
            </a:r>
          </a:p>
        </p:txBody>
      </p:sp>
      <p:sp>
        <p:nvSpPr>
          <p:cNvPr id="103" name="Shape 103"/>
          <p:cNvSpPr/>
          <p:nvPr/>
        </p:nvSpPr>
        <p:spPr>
          <a:xfrm>
            <a:off x="430000" y="1150000"/>
            <a:ext cx="11260000" cy="720000"/>
          </a:xfrm>
          <a:prstGeom prst="roundRect">
            <a:avLst/>
          </a:prstGeom>
          <a:solidFill>
            <a:srgbClr val="E7F2F8"/>
          </a:solidFill>
          <a:ln w="12700">
            <a:solidFill>
              <a:srgbClr val="B8D6E5"/>
            </a:solidFill>
          </a:ln>
        </p:spPr>
      </p:sp>
      <p:sp>
        <p:nvSpPr>
          <p:cNvPr id="13" name="Text 13"/>
          <p:cNvSpPr/>
          <p:nvPr/>
        </p:nvSpPr>
        <p:spPr>
          <a:xfrm>
            <a:off x="650000" y="1280000"/>
            <a:ext cx="10800000" cy="460000"/>
          </a:xfrm>
          <a:prstGeom prst="rect">
            <a:avLst/>
          </a:prstGeom>
          <a:noFill/>
        </p:spPr>
        <p:txBody>
          <a:bodyPr lIns="54864" rIns="54864" tIns="54864" bIns="54864" anchor="mid"/>
          <a:lstStyle/>
          <a:p>
            <a:pPr algn="left"/>
            <a:endParaRPr lang="zh-CN" sz="170000"/>
            <a:rPr lang="zh-CN" sz="170000"/>
            <a:r>
              <a:rPr lang="zh-CN" sz="170000" b="1">
                <a:solidFill>
                  <a:srgbClr val="123B5D"/>
                </a:solidFill>
                <a:latin typeface="Microsoft YaHei"/>
                <a:ea typeface="Microsoft YaHei"/>
              </a:rPr>
              <a:t>核心判断：JDK 8 仍然“能运行”，但已不再是主流 Java 生态的默认入口。继续停留，将从“主动升级”演变为“被动应急”。</a:t>
            </a:r>
          </a:p>
        </p:txBody>
      </p:sp>
      <p:sp>
        <p:nvSpPr>
          <p:cNvPr id="104" name="Shape 104"/>
          <p:cNvSpPr/>
          <p:nvPr/>
        </p:nvSpPr>
        <p:spPr>
          <a:xfrm>
            <a:off x="430000" y="2050000"/>
            <a:ext cx="2670000" cy="1460000"/>
          </a:xfrm>
          <a:prstGeom prst="roundRect">
            <a:avLst/>
          </a:prstGeom>
          <a:solidFill>
            <a:srgbClr val="E9F5EF"/>
          </a:solidFill>
          <a:ln w="12700">
            <a:solidFill>
              <a:srgbClr val="D6DEE8"/>
            </a:solidFill>
          </a:ln>
        </p:spPr>
      </p:sp>
      <p:sp>
        <p:nvSpPr>
          <p:cNvPr id="105" name="Shape 105"/>
          <p:cNvSpPr/>
          <p:nvPr/>
        </p:nvSpPr>
        <p:spPr>
          <a:xfrm>
            <a:off x="430000" y="2050000"/>
            <a:ext cx="90000" cy="1460000"/>
          </a:xfrm>
          <a:prstGeom prst="rect">
            <a:avLst/>
          </a:prstGeom>
          <a:solidFill>
            <a:srgbClr val="2E7D5A"/>
          </a:solidFill>
          <a:ln>
            <a:noFill/>
          </a:ln>
        </p:spPr>
      </p:sp>
      <p:sp>
        <p:nvSpPr>
          <p:cNvPr id="14" name="Text 14"/>
          <p:cNvSpPr/>
          <p:nvPr/>
        </p:nvSpPr>
        <p:spPr>
          <a:xfrm>
            <a:off x="600000" y="2200000"/>
            <a:ext cx="2410000" cy="260000"/>
          </a:xfrm>
          <a:prstGeom prst="rect">
            <a:avLst/>
          </a:prstGeom>
          <a:noFill/>
        </p:spPr>
        <p:txBody>
          <a:bodyPr lIns="54864" rIns="54864" tIns="54864" bIns="54864" anchor="mid"/>
          <a:lstStyle/>
          <a:p>
            <a:pPr algn="left"/>
            <a:endParaRPr lang="zh-CN" sz="145000"/>
            <a:rPr lang="zh-CN" sz="145000"/>
            <a:r>
              <a:rPr lang="zh-CN" sz="145000" b="1">
                <a:solidFill>
                  <a:srgbClr val="2E7D5A"/>
                </a:solidFill>
                <a:latin typeface="Microsoft YaHei"/>
                <a:ea typeface="Microsoft YaHei"/>
              </a:rPr>
              <a:t>01  Java 生态</a:t>
            </a:r>
          </a:p>
        </p:txBody>
      </p:sp>
      <p:sp>
        <p:nvSpPr>
          <p:cNvPr id="15" name="Text 15"/>
          <p:cNvSpPr/>
          <p:nvPr/>
        </p:nvSpPr>
        <p:spPr>
          <a:xfrm>
            <a:off x="600000" y="2540000"/>
            <a:ext cx="2370000" cy="470000"/>
          </a:xfrm>
          <a:prstGeom prst="rect">
            <a:avLst/>
          </a:prstGeom>
          <a:noFill/>
        </p:spPr>
        <p:txBody>
          <a:bodyPr lIns="54864" rIns="54864" tIns="54864" bIns="54864" anchor="mid"/>
          <a:lstStyle/>
          <a:p>
            <a:pPr algn="left"/>
            <a:endParaRPr lang="zh-CN" sz="115000"/>
            <a:rPr lang="zh-CN" sz="115000"/>
            <a:r>
              <a:rPr lang="zh-CN" sz="115000" b="0">
                <a:solidFill>
                  <a:srgbClr val="263746"/>
                </a:solidFill>
                <a:latin typeface="Microsoft YaHei"/>
                <a:ea typeface="Microsoft YaHei"/>
              </a:rPr>
              <a:t>Spring 6 / Boot 3 已要求 Java 17；Jakarta EE、云 SDK 和中间件持续提高最低版本。</a:t>
            </a:r>
          </a:p>
        </p:txBody>
      </p:sp>
      <p:sp>
        <p:nvSpPr>
          <p:cNvPr id="16" name="Text 16"/>
          <p:cNvSpPr/>
          <p:nvPr/>
        </p:nvSpPr>
        <p:spPr>
          <a:xfrm>
            <a:off x="600000" y="3070000"/>
            <a:ext cx="2370000" cy="280000"/>
          </a:xfrm>
          <a:prstGeom prst="rect">
            <a:avLst/>
          </a:prstGeom>
          <a:noFill/>
        </p:spPr>
        <p:txBody>
          <a:bodyPr lIns="54864" rIns="54864" tIns="54864" bIns="54864" anchor="mid"/>
          <a:lstStyle/>
          <a:p>
            <a:pPr algn="left"/>
            <a:endParaRPr lang="zh-CN" sz="105000"/>
            <a:rPr lang="zh-CN" sz="105000"/>
            <a:r>
              <a:rPr lang="zh-CN" sz="105000" b="0">
                <a:solidFill>
                  <a:srgbClr val="5B6875"/>
                </a:solidFill>
                <a:latin typeface="Microsoft YaHei"/>
                <a:ea typeface="Microsoft YaHei"/>
              </a:rPr>
              <a:t>JDK 8 被锁定在旧框架，升级和安全修复受限。</a:t>
            </a:r>
          </a:p>
        </p:txBody>
      </p:sp>
      <p:sp>
        <p:nvSpPr>
          <p:cNvPr id="106" name="Shape 106"/>
          <p:cNvSpPr/>
          <p:nvPr/>
        </p:nvSpPr>
        <p:spPr>
          <a:xfrm>
            <a:off x="3320000" y="2050000"/>
            <a:ext cx="2670000" cy="1460000"/>
          </a:xfrm>
          <a:prstGeom prst="roundRect">
            <a:avLst/>
          </a:prstGeom>
          <a:solidFill>
            <a:srgbClr val="EDF3FB"/>
          </a:solidFill>
          <a:ln w="12700">
            <a:solidFill>
              <a:srgbClr val="D6DEE8"/>
            </a:solidFill>
          </a:ln>
        </p:spPr>
      </p:sp>
      <p:sp>
        <p:nvSpPr>
          <p:cNvPr id="107" name="Shape 107"/>
          <p:cNvSpPr/>
          <p:nvPr/>
        </p:nvSpPr>
        <p:spPr>
          <a:xfrm>
            <a:off x="3320000" y="2050000"/>
            <a:ext cx="90000" cy="1460000"/>
          </a:xfrm>
          <a:prstGeom prst="rect">
            <a:avLst/>
          </a:prstGeom>
          <a:solidFill>
            <a:srgbClr val="2F6690"/>
          </a:solidFill>
          <a:ln>
            <a:noFill/>
          </a:ln>
        </p:spPr>
      </p:sp>
      <p:sp>
        <p:nvSpPr>
          <p:cNvPr id="17" name="Text 17"/>
          <p:cNvSpPr/>
          <p:nvPr/>
        </p:nvSpPr>
        <p:spPr>
          <a:xfrm>
            <a:off x="3490000" y="2200000"/>
            <a:ext cx="2410000" cy="260000"/>
          </a:xfrm>
          <a:prstGeom prst="rect">
            <a:avLst/>
          </a:prstGeom>
          <a:noFill/>
        </p:spPr>
        <p:txBody>
          <a:bodyPr lIns="54864" rIns="54864" tIns="54864" bIns="54864" anchor="mid"/>
          <a:lstStyle/>
          <a:p>
            <a:pPr algn="left"/>
            <a:endParaRPr lang="zh-CN" sz="145000"/>
            <a:rPr lang="zh-CN" sz="145000"/>
            <a:r>
              <a:rPr lang="zh-CN" sz="145000" b="1">
                <a:solidFill>
                  <a:srgbClr val="2F6690"/>
                </a:solidFill>
                <a:latin typeface="Microsoft YaHei"/>
                <a:ea typeface="Microsoft YaHei"/>
              </a:rPr>
              <a:t>02  OpenJDK 社区</a:t>
            </a:r>
          </a:p>
        </p:txBody>
      </p:sp>
      <p:sp>
        <p:nvSpPr>
          <p:cNvPr id="18" name="Text 18"/>
          <p:cNvSpPr/>
          <p:nvPr/>
        </p:nvSpPr>
        <p:spPr>
          <a:xfrm>
            <a:off x="3490000" y="2540000"/>
            <a:ext cx="2370000" cy="470000"/>
          </a:xfrm>
          <a:prstGeom prst="rect">
            <a:avLst/>
          </a:prstGeom>
          <a:noFill/>
        </p:spPr>
        <p:txBody>
          <a:bodyPr lIns="54864" rIns="54864" tIns="54864" bIns="54864" anchor="mid"/>
          <a:lstStyle/>
          <a:p>
            <a:pPr algn="left"/>
            <a:endParaRPr lang="zh-CN" sz="115000"/>
            <a:rPr lang="zh-CN" sz="115000"/>
            <a:r>
              <a:rPr lang="zh-CN" sz="115000" b="0">
                <a:solidFill>
                  <a:srgbClr val="263746"/>
                </a:solidFill>
                <a:latin typeface="Microsoft YaHei"/>
                <a:ea typeface="Microsoft YaHei"/>
              </a:rPr>
              <a:t>语言特性、GC、JVM 优化和 JEP 创新集中在 17/21 等新 LTS。</a:t>
            </a:r>
          </a:p>
        </p:txBody>
      </p:sp>
      <p:sp>
        <p:nvSpPr>
          <p:cNvPr id="19" name="Text 19"/>
          <p:cNvSpPr/>
          <p:nvPr/>
        </p:nvSpPr>
        <p:spPr>
          <a:xfrm>
            <a:off x="3490000" y="3070000"/>
            <a:ext cx="2370000" cy="280000"/>
          </a:xfrm>
          <a:prstGeom prst="rect">
            <a:avLst/>
          </a:prstGeom>
          <a:noFill/>
        </p:spPr>
        <p:txBody>
          <a:bodyPr lIns="54864" rIns="54864" tIns="54864" bIns="54864" anchor="mid"/>
          <a:lstStyle/>
          <a:p>
            <a:pPr algn="left"/>
            <a:endParaRPr lang="zh-CN" sz="105000"/>
            <a:rPr lang="zh-CN" sz="105000"/>
            <a:r>
              <a:rPr lang="zh-CN" sz="105000" b="0">
                <a:solidFill>
                  <a:srgbClr val="5B6875"/>
                </a:solidFill>
                <a:latin typeface="Microsoft YaHei"/>
                <a:ea typeface="Microsoft YaHei"/>
              </a:rPr>
              <a:t>社区资源、人才与工具链逐步远离 JDK 8。</a:t>
            </a:r>
          </a:p>
        </p:txBody>
      </p:sp>
      <p:sp>
        <p:nvSpPr>
          <p:cNvPr id="108" name="Shape 108"/>
          <p:cNvSpPr/>
          <p:nvPr/>
        </p:nvSpPr>
        <p:spPr>
          <a:xfrm>
            <a:off x="6210000" y="2050000"/>
            <a:ext cx="2670000" cy="146000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6DEE8"/>
            </a:solidFill>
          </a:ln>
        </p:spPr>
      </p:sp>
      <p:sp>
        <p:nvSpPr>
          <p:cNvPr id="109" name="Shape 109"/>
          <p:cNvSpPr/>
          <p:nvPr/>
        </p:nvSpPr>
        <p:spPr>
          <a:xfrm>
            <a:off x="6210000" y="2050000"/>
            <a:ext cx="90000" cy="1460000"/>
          </a:xfrm>
          <a:prstGeom prst="rect">
            <a:avLst/>
          </a:prstGeom>
          <a:solidFill>
            <a:srgbClr val="B56B00"/>
          </a:solidFill>
          <a:ln>
            <a:noFill/>
          </a:ln>
        </p:spPr>
      </p:sp>
      <p:sp>
        <p:nvSpPr>
          <p:cNvPr id="20" name="Text 20"/>
          <p:cNvSpPr/>
          <p:nvPr/>
        </p:nvSpPr>
        <p:spPr>
          <a:xfrm>
            <a:off x="6380000" y="2200000"/>
            <a:ext cx="2410000" cy="260000"/>
          </a:xfrm>
          <a:prstGeom prst="rect">
            <a:avLst/>
          </a:prstGeom>
          <a:noFill/>
        </p:spPr>
        <p:txBody>
          <a:bodyPr lIns="54864" rIns="54864" tIns="54864" bIns="54864" anchor="mid"/>
          <a:lstStyle/>
          <a:p>
            <a:pPr algn="left"/>
            <a:endParaRPr lang="zh-CN" sz="145000"/>
            <a:rPr lang="zh-CN" sz="145000"/>
            <a:r>
              <a:rPr lang="zh-CN" sz="145000" b="1">
                <a:solidFill>
                  <a:srgbClr val="B56B00"/>
                </a:solidFill>
                <a:latin typeface="Microsoft YaHei"/>
                <a:ea typeface="Microsoft YaHei"/>
              </a:rPr>
              <a:t>03  生命周期与安全</a:t>
            </a:r>
          </a:p>
        </p:txBody>
      </p:sp>
      <p:sp>
        <p:nvSpPr>
          <p:cNvPr id="21" name="Text 21"/>
          <p:cNvSpPr/>
          <p:nvPr/>
        </p:nvSpPr>
        <p:spPr>
          <a:xfrm>
            <a:off x="6380000" y="2540000"/>
            <a:ext cx="2370000" cy="470000"/>
          </a:xfrm>
          <a:prstGeom prst="rect">
            <a:avLst/>
          </a:prstGeom>
          <a:noFill/>
        </p:spPr>
        <p:txBody>
          <a:bodyPr lIns="54864" rIns="54864" tIns="54864" bIns="54864" anchor="mid"/>
          <a:lstStyle/>
          <a:p>
            <a:pPr algn="left"/>
            <a:endParaRPr lang="zh-CN" sz="115000"/>
            <a:rPr lang="zh-CN" sz="115000"/>
            <a:r>
              <a:rPr lang="zh-CN" sz="115000" b="0">
                <a:solidFill>
                  <a:srgbClr val="263746"/>
                </a:solidFill>
                <a:latin typeface="Microsoft YaHei"/>
                <a:ea typeface="Microsoft YaHei"/>
              </a:rPr>
              <a:t>JDK 8 发布于 2014 年；JDK 21 是新一代 LTS，维护窗口更清晰。</a:t>
            </a:r>
          </a:p>
        </p:txBody>
      </p:sp>
      <p:sp>
        <p:nvSpPr>
          <p:cNvPr id="22" name="Text 22"/>
          <p:cNvSpPr/>
          <p:nvPr/>
        </p:nvSpPr>
        <p:spPr>
          <a:xfrm>
            <a:off x="6380000" y="3070000"/>
            <a:ext cx="2370000" cy="280000"/>
          </a:xfrm>
          <a:prstGeom prst="rect">
            <a:avLst/>
          </a:prstGeom>
          <a:noFill/>
        </p:spPr>
        <p:txBody>
          <a:bodyPr lIns="54864" rIns="54864" tIns="54864" bIns="54864" anchor="mid"/>
          <a:lstStyle/>
          <a:p>
            <a:pPr algn="left"/>
            <a:endParaRPr lang="zh-CN" sz="105000"/>
            <a:rPr lang="zh-CN" sz="105000"/>
            <a:r>
              <a:rPr lang="zh-CN" sz="105000" b="0">
                <a:solidFill>
                  <a:srgbClr val="5B6875"/>
                </a:solidFill>
                <a:latin typeface="Microsoft YaHei"/>
                <a:ea typeface="Microsoft YaHei"/>
              </a:rPr>
              <a:t>降低漏洞、合规、供应商绑定和紧急迁移风险。</a:t>
            </a:r>
          </a:p>
        </p:txBody>
      </p:sp>
      <p:sp>
        <p:nvSpPr>
          <p:cNvPr id="110" name="Shape 110"/>
          <p:cNvSpPr/>
          <p:nvPr/>
        </p:nvSpPr>
        <p:spPr>
          <a:xfrm>
            <a:off x="9100000" y="2050000"/>
            <a:ext cx="2670000" cy="1460000"/>
          </a:xfrm>
          <a:prstGeom prst="roundRect">
            <a:avLst/>
          </a:prstGeom>
          <a:solidFill>
            <a:srgbClr val="F2ECFA"/>
          </a:solidFill>
          <a:ln w="12700">
            <a:solidFill>
              <a:srgbClr val="D6DEE8"/>
            </a:solidFill>
          </a:ln>
        </p:spPr>
      </p:sp>
      <p:sp>
        <p:nvSpPr>
          <p:cNvPr id="111" name="Shape 111"/>
          <p:cNvSpPr/>
          <p:nvPr/>
        </p:nvSpPr>
        <p:spPr>
          <a:xfrm>
            <a:off x="9100000" y="2050000"/>
            <a:ext cx="90000" cy="1460000"/>
          </a:xfrm>
          <a:prstGeom prst="rect">
            <a:avLst/>
          </a:prstGeom>
          <a:solidFill>
            <a:srgbClr val="6A4C93"/>
          </a:solidFill>
          <a:ln>
            <a:noFill/>
          </a:ln>
        </p:spPr>
      </p:sp>
      <p:sp>
        <p:nvSpPr>
          <p:cNvPr id="23" name="Text 23"/>
          <p:cNvSpPr/>
          <p:nvPr/>
        </p:nvSpPr>
        <p:spPr>
          <a:xfrm>
            <a:off x="9270000" y="2200000"/>
            <a:ext cx="2410000" cy="260000"/>
          </a:xfrm>
          <a:prstGeom prst="rect">
            <a:avLst/>
          </a:prstGeom>
          <a:noFill/>
        </p:spPr>
        <p:txBody>
          <a:bodyPr lIns="54864" rIns="54864" tIns="54864" bIns="54864" anchor="mid"/>
          <a:lstStyle/>
          <a:p>
            <a:pPr algn="left"/>
            <a:endParaRPr lang="zh-CN" sz="145000"/>
            <a:rPr lang="zh-CN" sz="145000"/>
            <a:r>
              <a:rPr lang="zh-CN" sz="145000" b="1">
                <a:solidFill>
                  <a:srgbClr val="6A4C93"/>
                </a:solidFill>
                <a:latin typeface="Microsoft YaHei"/>
                <a:ea typeface="Microsoft YaHei"/>
              </a:rPr>
              <a:t>04  业界与云原生</a:t>
            </a:r>
          </a:p>
        </p:txBody>
      </p:sp>
      <p:sp>
        <p:nvSpPr>
          <p:cNvPr id="24" name="Text 24"/>
          <p:cNvSpPr/>
          <p:nvPr/>
        </p:nvSpPr>
        <p:spPr>
          <a:xfrm>
            <a:off x="9270000" y="2540000"/>
            <a:ext cx="2370000" cy="470000"/>
          </a:xfrm>
          <a:prstGeom prst="rect">
            <a:avLst/>
          </a:prstGeom>
          <a:noFill/>
        </p:spPr>
        <p:txBody>
          <a:bodyPr lIns="54864" rIns="54864" tIns="54864" bIns="54864" anchor="mid"/>
          <a:lstStyle/>
          <a:p>
            <a:pPr algn="left"/>
            <a:endParaRPr lang="zh-CN" sz="115000"/>
            <a:rPr lang="zh-CN" sz="115000"/>
            <a:r>
              <a:rPr lang="zh-CN" sz="115000" b="0">
                <a:solidFill>
                  <a:srgbClr val="263746"/>
                </a:solidFill>
                <a:latin typeface="Microsoft YaHei"/>
                <a:ea typeface="Microsoft YaHei"/>
              </a:rPr>
              <a:t>企业新项目、容器镜像和云平台普遍以 Java 17/21 为主。</a:t>
            </a:r>
          </a:p>
        </p:txBody>
      </p:sp>
      <p:sp>
        <p:nvSpPr>
          <p:cNvPr id="25" name="Text 25"/>
          <p:cNvSpPr/>
          <p:nvPr/>
        </p:nvSpPr>
        <p:spPr>
          <a:xfrm>
            <a:off x="9270000" y="3070000"/>
            <a:ext cx="2370000" cy="280000"/>
          </a:xfrm>
          <a:prstGeom prst="rect">
            <a:avLst/>
          </a:prstGeom>
          <a:noFill/>
        </p:spPr>
        <p:txBody>
          <a:bodyPr lIns="54864" rIns="54864" tIns="54864" bIns="54864" anchor="mid"/>
          <a:lstStyle/>
          <a:p>
            <a:pPr algn="left"/>
            <a:endParaRPr lang="zh-CN" sz="105000"/>
            <a:rPr lang="zh-CN" sz="105000"/>
            <a:r>
              <a:rPr lang="zh-CN" sz="105000" b="0">
                <a:solidFill>
                  <a:srgbClr val="5B6875"/>
                </a:solidFill>
                <a:latin typeface="Microsoft YaHei"/>
                <a:ea typeface="Microsoft YaHei"/>
              </a:rPr>
              <a:t>虚拟线程、现代 GC 和容器适配提升资源效率。</a:t>
            </a:r>
          </a:p>
        </p:txBody>
      </p:sp>
      <p:sp>
        <p:nvSpPr>
          <p:cNvPr id="112" name="Shape 112"/>
          <p:cNvSpPr/>
          <p:nvPr/>
        </p:nvSpPr>
        <p:spPr>
          <a:xfrm>
            <a:off x="430000" y="3880000"/>
            <a:ext cx="11260000" cy="20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</p:sp>
      <p:sp>
        <p:nvSpPr>
          <p:cNvPr id="26" name="Text 26"/>
          <p:cNvSpPr/>
          <p:nvPr/>
        </p:nvSpPr>
        <p:spPr>
          <a:xfrm>
            <a:off x="650000" y="4070000"/>
            <a:ext cx="5300000" cy="300000"/>
          </a:xfrm>
          <a:prstGeom prst="rect">
            <a:avLst/>
          </a:prstGeom>
          <a:noFill/>
        </p:spPr>
        <p:txBody>
          <a:bodyPr lIns="54864" rIns="54864" tIns="54864" bIns="54864" anchor="mid"/>
          <a:lstStyle/>
          <a:p>
            <a:pPr algn="left"/>
            <a:endParaRPr lang="zh-CN" sz="155000"/>
            <a:rPr lang="zh-CN" sz="155000"/>
            <a:r>
              <a:rPr lang="zh-CN" sz="155000" b="1">
                <a:solidFill>
                  <a:srgbClr val="A33A3A"/>
                </a:solidFill>
                <a:latin typeface="Microsoft YaHei"/>
                <a:ea typeface="Microsoft YaHei"/>
              </a:rPr>
              <a:t>不升级的代价</a:t>
            </a:r>
          </a:p>
        </p:txBody>
      </p:sp>
      <p:sp>
        <p:nvSpPr>
          <p:cNvPr id="27" name="Text 27"/>
          <p:cNvSpPr/>
          <p:nvPr/>
        </p:nvSpPr>
        <p:spPr>
          <a:xfrm>
            <a:off x="650000" y="4430000"/>
            <a:ext cx="5000000" cy="1070000"/>
          </a:xfrm>
          <a:prstGeom prst="rect">
            <a:avLst/>
          </a:prstGeom>
          <a:noFill/>
        </p:spPr>
        <p:txBody>
          <a:bodyPr lIns="54864" rIns="54864" tIns="54864" bIns="54864" anchor="mid"/>
          <a:lstStyle/>
          <a:p>
            <a:pPr algn="left"/>
            <a:endParaRPr lang="zh-CN" sz="125000"/>
            <a:rPr lang="zh-CN" sz="125000"/>
            <a:r>
              <a:rPr lang="zh-CN" sz="125000" b="0">
                <a:solidFill>
                  <a:srgbClr val="3D4650"/>
                </a:solidFill>
                <a:latin typeface="Microsoft YaHei"/>
                <a:ea typeface="Microsoft YaHei"/>
              </a:rPr>
              <a:t>• 产品无法及时跟进主流框架</a:t>
            </a:r>
            <a:br/>
            <a:r>
              <a:rPr lang="zh-CN" sz="125000" b="0">
                <a:solidFill>
                  <a:srgbClr val="3D4650"/>
                </a:solidFill>
                <a:latin typeface="Microsoft YaHei"/>
                <a:ea typeface="Microsoft YaHei"/>
              </a:rPr>
              <a:t>• 安全、合规与供应商风险累积</a:t>
            </a:r>
            <a:br/>
            <a:r>
              <a:rPr lang="zh-CN" sz="125000" b="0">
                <a:solidFill>
                  <a:srgbClr val="3D4650"/>
                </a:solidFill>
                <a:latin typeface="Microsoft YaHei"/>
                <a:ea typeface="Microsoft YaHei"/>
              </a:rPr>
              <a:t>• 技术债务最终集中爆发</a:t>
            </a:r>
            <a:br/>
            <a:r>
              <a:rPr lang="zh-CN" sz="125000" b="0">
                <a:solidFill>
                  <a:srgbClr val="3D4650"/>
                </a:solidFill>
                <a:latin typeface="Microsoft YaHei"/>
                <a:ea typeface="Microsoft YaHei"/>
              </a:rPr>
              <a:t>• 招聘、培训和运维复杂度上升</a:t>
            </a:r>
          </a:p>
        </p:txBody>
      </p:sp>
      <p:sp>
        <p:nvSpPr>
          <p:cNvPr id="28" name="Text 28"/>
          <p:cNvSpPr/>
          <p:nvPr/>
        </p:nvSpPr>
        <p:spPr>
          <a:xfrm>
            <a:off x="6180000" y="4070000"/>
            <a:ext cx="5000000" cy="300000"/>
          </a:xfrm>
          <a:prstGeom prst="rect">
            <a:avLst/>
          </a:prstGeom>
          <a:noFill/>
        </p:spPr>
        <p:txBody>
          <a:bodyPr lIns="54864" rIns="54864" tIns="54864" bIns="54864" anchor="mid"/>
          <a:lstStyle/>
          <a:p>
            <a:pPr algn="left"/>
            <a:endParaRPr lang="zh-CN" sz="155000"/>
            <a:rPr lang="zh-CN" sz="155000"/>
            <a:r>
              <a:rPr lang="zh-CN" sz="155000" b="1">
                <a:solidFill>
                  <a:srgbClr val="167A55"/>
                </a:solidFill>
                <a:latin typeface="Microsoft YaHei"/>
                <a:ea typeface="Microsoft YaHei"/>
              </a:rPr>
              <a:t>升级后的收益</a:t>
            </a:r>
          </a:p>
        </p:txBody>
      </p:sp>
      <p:sp>
        <p:nvSpPr>
          <p:cNvPr id="29" name="Text 29"/>
          <p:cNvSpPr/>
          <p:nvPr/>
        </p:nvSpPr>
        <p:spPr>
          <a:xfrm>
            <a:off x="6180000" y="4430000"/>
            <a:ext cx="5000000" cy="1070000"/>
          </a:xfrm>
          <a:prstGeom prst="rect">
            <a:avLst/>
          </a:prstGeom>
          <a:noFill/>
        </p:spPr>
        <p:txBody>
          <a:bodyPr lIns="54864" rIns="54864" tIns="54864" bIns="54864" anchor="mid"/>
          <a:lstStyle/>
          <a:p>
            <a:pPr algn="left"/>
            <a:endParaRPr lang="zh-CN" sz="125000"/>
            <a:rPr lang="zh-CN" sz="125000"/>
            <a:r>
              <a:rPr lang="zh-CN" sz="125000" b="0">
                <a:solidFill>
                  <a:srgbClr val="3D4650"/>
                </a:solidFill>
                <a:latin typeface="Microsoft YaHei"/>
                <a:ea typeface="Microsoft YaHei"/>
              </a:rPr>
              <a:t>• 获得主流框架和云平台持续支持</a:t>
            </a:r>
            <a:br/>
            <a:r>
              <a:rPr lang="zh-CN" sz="125000" b="0">
                <a:solidFill>
                  <a:srgbClr val="3D4650"/>
                </a:solidFill>
                <a:latin typeface="Microsoft YaHei"/>
                <a:ea typeface="Microsoft YaHei"/>
              </a:rPr>
              <a:t>• 建立统一、可持续的 LTS 基线</a:t>
            </a:r>
            <a:br/>
            <a:r>
              <a:rPr lang="zh-CN" sz="125000" b="0">
                <a:solidFill>
                  <a:srgbClr val="3D4650"/>
                </a:solidFill>
                <a:latin typeface="Microsoft YaHei"/>
                <a:ea typeface="Microsoft YaHei"/>
              </a:rPr>
              <a:t>• 提升高并发与资源利用效率</a:t>
            </a:r>
            <a:br/>
            <a:r>
              <a:rPr lang="zh-CN" sz="125000" b="0">
                <a:solidFill>
                  <a:srgbClr val="3D4650"/>
                </a:solidFill>
                <a:latin typeface="Microsoft YaHei"/>
                <a:ea typeface="Microsoft YaHei"/>
              </a:rPr>
              <a:t>• 降低长期安全和迁移成本</a:t>
            </a:r>
          </a:p>
        </p:txBody>
      </p:sp>
      <p:sp>
        <p:nvSpPr>
          <p:cNvPr id="113" name="Shape 113"/>
          <p:cNvSpPr/>
          <p:nvPr/>
        </p:nvSpPr>
        <p:spPr>
          <a:xfrm>
            <a:off x="430000" y="6150000"/>
            <a:ext cx="11260000" cy="430000"/>
          </a:xfrm>
          <a:prstGeom prst="roundRect">
            <a:avLst/>
          </a:prstGeom>
          <a:solidFill>
            <a:srgbClr val="123B5D"/>
          </a:solidFill>
          <a:ln>
            <a:noFill/>
          </a:ln>
        </p:spPr>
      </p:sp>
      <p:sp>
        <p:nvSpPr>
          <p:cNvPr id="30" name="Text 30"/>
          <p:cNvSpPr/>
          <p:nvPr/>
        </p:nvSpPr>
        <p:spPr>
          <a:xfrm>
            <a:off x="650000" y="6220000"/>
            <a:ext cx="10800000" cy="270000"/>
          </a:xfrm>
          <a:prstGeom prst="rect">
            <a:avLst/>
          </a:prstGeom>
          <a:noFill/>
        </p:spPr>
        <p:txBody>
          <a:bodyPr lIns="54864" rIns="54864" tIns="54864" bIns="54864" anchor="mid"/>
          <a:lstStyle/>
          <a:p>
            <a:pPr algn="left"/>
            <a:endParaRPr lang="zh-CN" sz="145000"/>
            <a:rPr lang="zh-CN" sz="145000"/>
            <a:r>
              <a:rPr lang="zh-CN" sz="145000" b="1">
                <a:solidFill>
                  <a:srgbClr val="FFFFFF"/>
                </a:solidFill>
                <a:latin typeface="Microsoft YaHei"/>
                <a:ea typeface="Microsoft YaHei"/>
              </a:rPr>
              <a:t>建议决策：批准 JDK 21 为统一生产基线；新项目禁止新增 JDK 8 依赖，存量系统按“扫描 → 试点 → 核心迁移 → 长尾收敛”分批推进。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2937"/>
      </a:dk2>
      <a:lt2>
        <a:srgbClr val="F7F9FC"/>
      </a:lt2>
      <a:accent1>
        <a:srgbClr val="123B5D"/>
      </a:accent1>
      <a:accent2>
        <a:srgbClr val="2E7D5A"/>
      </a:accent2>
      <a:accent3>
        <a:srgbClr val="B56B00"/>
      </a:accent3>
      <a:accent4>
        <a:srgbClr val="6A4C93"/>
      </a:accent4>
      <a:accent5>
        <a:srgbClr val="2F6690"/>
      </a:accent5>
      <a:accent6>
        <a:srgbClr val="A33A3A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Microsoft YaHei"/>
      </a:majorFont>
      <a:minorFont>
        <a:latin typeface="Aptos"/>
        <a:ea typeface="Microsoft YaHei"/>
      </a:minorFont>
    </a:fontScheme>
    <a:fmtScheme name="Office">
      <a:fillStyleLst/>
      <a:lnStyleLst/>
      <a:effectStyleLst/>
      <a:bgFillStyleLst/>
    </a:fmtScheme>
  </a:themeElements>
</a:theme>
</file>